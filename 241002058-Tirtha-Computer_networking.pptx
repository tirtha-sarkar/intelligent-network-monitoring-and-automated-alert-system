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886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7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010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167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850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87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649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3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3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00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821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935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061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267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768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64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41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026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4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024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721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650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146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161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34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37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051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1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B7B79B3D-23C9-4767-8A9B-8D1477014D25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6D4E81B-7726-485F-A7FD-2E665BD262E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979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future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2C8CFF00-97EE-50F7-B366-BBCD694B7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8E81D515-EA94-E15F-B519-3A1910065287}"/>
              </a:ext>
            </a:extLst>
          </p:cNvPr>
          <p:cNvSpPr/>
          <p:nvPr/>
        </p:nvSpPr>
        <p:spPr>
          <a:xfrm>
            <a:off x="5389626" y="1695570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Intelligent Network Monitoring &amp; Automated Alert System</a:t>
            </a:r>
            <a:endParaRPr lang="en-US" sz="365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615B369-1410-5BF6-3335-85F73C7F7213}"/>
              </a:ext>
            </a:extLst>
          </p:cNvPr>
          <p:cNvSpPr/>
          <p:nvPr/>
        </p:nvSpPr>
        <p:spPr>
          <a:xfrm>
            <a:off x="5389626" y="3429000"/>
            <a:ext cx="6833223" cy="775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200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Computer Networking Lab </a:t>
            </a:r>
          </a:p>
          <a:p>
            <a:pPr>
              <a:lnSpc>
                <a:spcPct val="133000"/>
              </a:lnSpc>
            </a:pPr>
            <a:r>
              <a:rPr lang="en-US" sz="200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CSE 318· Summer 2026_241_D2</a:t>
            </a:r>
            <a:endParaRPr lang="en-US" sz="20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A009806-5E96-0C21-1F97-D8C371955700}"/>
              </a:ext>
            </a:extLst>
          </p:cNvPr>
          <p:cNvSpPr/>
          <p:nvPr/>
        </p:nvSpPr>
        <p:spPr>
          <a:xfrm>
            <a:off x="5389626" y="4466432"/>
            <a:ext cx="3535722" cy="1632862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95697697-B7CF-C741-53A8-620FCD006488}"/>
              </a:ext>
            </a:extLst>
          </p:cNvPr>
          <p:cNvSpPr/>
          <p:nvPr/>
        </p:nvSpPr>
        <p:spPr>
          <a:xfrm>
            <a:off x="5529199" y="4632772"/>
            <a:ext cx="325657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TIRTHA BABU SARKAR · 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ID: 241002058</a:t>
            </a:r>
            <a:endParaRPr lang="en-US" sz="12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CD60F33-F2A4-05E9-8510-C0BCC6B37199}"/>
              </a:ext>
            </a:extLst>
          </p:cNvPr>
          <p:cNvSpPr/>
          <p:nvPr/>
        </p:nvSpPr>
        <p:spPr>
          <a:xfrm>
            <a:off x="5529199" y="5141734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50" kern="0" spc="-3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Submitted To:</a:t>
            </a: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600" dirty="0"/>
              <a:t>Mahbubur Rahman</a:t>
            </a:r>
          </a:p>
          <a:p>
            <a:r>
              <a:rPr lang="en-US" sz="1550" kern="0" spc="-3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Green University of Bangladesh</a:t>
            </a: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Department of CSE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79346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B920B96-6CA7-6F8A-956B-F80BC6E2A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5900761-0567-883F-978F-25C81557F926}"/>
              </a:ext>
            </a:extLst>
          </p:cNvPr>
          <p:cNvSpPr/>
          <p:nvPr/>
        </p:nvSpPr>
        <p:spPr>
          <a:xfrm>
            <a:off x="698086" y="925810"/>
            <a:ext cx="6223638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29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Network Monitoring Is Critical</a:t>
            </a:r>
            <a:endParaRPr lang="en-US" sz="36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FFFBA2A-74E9-D0CB-597F-ABC92D9AF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288679"/>
            <a:ext cx="6223638" cy="1674316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533CB371-0B2A-5948-AFE4-7752DD1E7F79}"/>
              </a:ext>
            </a:extLst>
          </p:cNvPr>
          <p:cNvSpPr/>
          <p:nvPr/>
        </p:nvSpPr>
        <p:spPr>
          <a:xfrm>
            <a:off x="1012006" y="2501007"/>
            <a:ext cx="569739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003091D-4218-D015-07A6-7D2D5073F7A4}"/>
              </a:ext>
            </a:extLst>
          </p:cNvPr>
          <p:cNvSpPr/>
          <p:nvPr/>
        </p:nvSpPr>
        <p:spPr>
          <a:xfrm>
            <a:off x="1012006" y="2881213"/>
            <a:ext cx="5697395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monitoring is reactive, error-prone, and unscalable. Network failures cause downtime, data loss, and degraded service — often detected too late.</a:t>
            </a:r>
            <a:endParaRPr lang="en-US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66E82FD1-5102-676A-4E9C-5964CE4CD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138314"/>
            <a:ext cx="6223638" cy="2475845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91140E22-68EE-2B8D-D2C9-8ECE25D9694E}"/>
              </a:ext>
            </a:extLst>
          </p:cNvPr>
          <p:cNvSpPr/>
          <p:nvPr/>
        </p:nvSpPr>
        <p:spPr>
          <a:xfrm>
            <a:off x="1012006" y="4350643"/>
            <a:ext cx="569739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Objectives</a:t>
            </a:r>
            <a:endParaRPr lang="en-US" sz="2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BF498AA-4169-045F-B121-09DB1E29D8CE}"/>
              </a:ext>
            </a:extLst>
          </p:cNvPr>
          <p:cNvSpPr/>
          <p:nvPr/>
        </p:nvSpPr>
        <p:spPr>
          <a:xfrm>
            <a:off x="1012006" y="4730849"/>
            <a:ext cx="5697395" cy="1343223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Continuously monitor host availability and TCP port status</a:t>
            </a:r>
            <a:endParaRPr lang="en-US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Measure and log network latency in real time</a:t>
            </a:r>
            <a:endParaRPr lang="en-US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Trigger automated alerts on threshold breaches</a:t>
            </a:r>
            <a:endParaRPr lang="en-US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 structured CSV reports for audit and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85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0B6FD229-626A-4A67-582D-B79A3F359C05}"/>
              </a:ext>
            </a:extLst>
          </p:cNvPr>
          <p:cNvSpPr/>
          <p:nvPr/>
        </p:nvSpPr>
        <p:spPr>
          <a:xfrm>
            <a:off x="698086" y="747216"/>
            <a:ext cx="10795524" cy="32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1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System Architecture</a:t>
            </a:r>
            <a:endParaRPr lang="en-US" sz="36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8315C6C-FF23-6A0A-2ADB-390B46F9A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1157387"/>
            <a:ext cx="10795524" cy="4940697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3E786972-ECB6-0B3A-DF0D-6E5456799D08}"/>
              </a:ext>
            </a:extLst>
          </p:cNvPr>
          <p:cNvSpPr/>
          <p:nvPr/>
        </p:nvSpPr>
        <p:spPr>
          <a:xfrm>
            <a:off x="8605878" y="1846612"/>
            <a:ext cx="2247474" cy="28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Alert &amp; Reporting</a:t>
            </a:r>
            <a:endParaRPr lang="en-US" sz="17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FEA193C-17E7-241D-6324-E4E02A497B08}"/>
              </a:ext>
            </a:extLst>
          </p:cNvPr>
          <p:cNvSpPr/>
          <p:nvPr/>
        </p:nvSpPr>
        <p:spPr>
          <a:xfrm>
            <a:off x="8605878" y="2212299"/>
            <a:ext cx="2632224" cy="36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Thresholds, notifications, CSV export</a:t>
            </a:r>
            <a:endParaRPr lang="en-US" sz="15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FF256E6-999F-93A6-4F06-64DC97786856}"/>
              </a:ext>
            </a:extLst>
          </p:cNvPr>
          <p:cNvSpPr/>
          <p:nvPr/>
        </p:nvSpPr>
        <p:spPr>
          <a:xfrm>
            <a:off x="1125798" y="3470565"/>
            <a:ext cx="2247474" cy="28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5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Monitoring Engine</a:t>
            </a:r>
            <a:endParaRPr lang="en-US" sz="17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621C1E5-D187-88D0-28A3-A4039E72F4C3}"/>
              </a:ext>
            </a:extLst>
          </p:cNvPr>
          <p:cNvSpPr/>
          <p:nvPr/>
        </p:nvSpPr>
        <p:spPr>
          <a:xfrm>
            <a:off x="953323" y="3836253"/>
            <a:ext cx="2419948" cy="36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1000"/>
              </a:lnSpc>
              <a:buNone/>
            </a:pPr>
            <a:r>
              <a:rPr lang="en-US" sz="1500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Ping, TCP checks, latency measurement</a:t>
            </a:r>
            <a:endParaRPr lang="en-US" sz="15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61CA582-B8F6-3318-EFED-8083675E6287}"/>
              </a:ext>
            </a:extLst>
          </p:cNvPr>
          <p:cNvSpPr/>
          <p:nvPr/>
        </p:nvSpPr>
        <p:spPr>
          <a:xfrm>
            <a:off x="8605878" y="4309077"/>
            <a:ext cx="2247474" cy="28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GUI Layer</a:t>
            </a:r>
            <a:endParaRPr lang="en-US" sz="17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84936FCC-8078-638C-79BE-17E26ADC2258}"/>
              </a:ext>
            </a:extLst>
          </p:cNvPr>
          <p:cNvSpPr/>
          <p:nvPr/>
        </p:nvSpPr>
        <p:spPr>
          <a:xfrm>
            <a:off x="8605878" y="4674764"/>
            <a:ext cx="2632224" cy="36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interface, dashboard, controls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4523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6DE55B8E-83EB-B277-3674-A57B2CE30501}"/>
              </a:ext>
            </a:extLst>
          </p:cNvPr>
          <p:cNvSpPr/>
          <p:nvPr/>
        </p:nvSpPr>
        <p:spPr>
          <a:xfrm>
            <a:off x="698086" y="92888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Features &amp; Functionalities</a:t>
            </a:r>
            <a:endParaRPr lang="en-US" sz="36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94A7345-6DD2-8DFE-0822-C8EA54B60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671141"/>
            <a:ext cx="349043" cy="349052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A64C6171-8490-20F7-4121-6FC3298AF649}"/>
              </a:ext>
            </a:extLst>
          </p:cNvPr>
          <p:cNvSpPr/>
          <p:nvPr/>
        </p:nvSpPr>
        <p:spPr>
          <a:xfrm>
            <a:off x="698086" y="2211090"/>
            <a:ext cx="53023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Real-Time Monitoring</a:t>
            </a:r>
            <a:endParaRPr lang="en-US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FEC3D60-4397-042C-18DC-FD5370A1FAAC}"/>
              </a:ext>
            </a:extLst>
          </p:cNvPr>
          <p:cNvSpPr/>
          <p:nvPr/>
        </p:nvSpPr>
        <p:spPr>
          <a:xfrm>
            <a:off x="698086" y="2559348"/>
            <a:ext cx="5302316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Continuous host status checks with live visual feedback on the dashboard.</a:t>
            </a:r>
            <a:endParaRPr lang="en-US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B7B4FCC-ABF9-82CB-5087-3C96742E7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1294" y="1671141"/>
            <a:ext cx="349043" cy="349052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A25DDEE5-7E32-5704-7713-F4ED408AA03E}"/>
              </a:ext>
            </a:extLst>
          </p:cNvPr>
          <p:cNvSpPr/>
          <p:nvPr/>
        </p:nvSpPr>
        <p:spPr>
          <a:xfrm>
            <a:off x="6191294" y="2211090"/>
            <a:ext cx="53023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TCP Port Checking</a:t>
            </a:r>
            <a:endParaRPr lang="en-US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FA0FF72D-320F-2043-F645-91C50C989920}"/>
              </a:ext>
            </a:extLst>
          </p:cNvPr>
          <p:cNvSpPr/>
          <p:nvPr/>
        </p:nvSpPr>
        <p:spPr>
          <a:xfrm>
            <a:off x="6191294" y="2559348"/>
            <a:ext cx="530231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Validates service availability on specified ports (HTTP, SSH, FTP, etc.).</a:t>
            </a:r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1B23CD0B-F68B-66A1-C863-6980DFF37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388221"/>
            <a:ext cx="349043" cy="349052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28AE177A-4C43-FDDF-7E2F-B3D8A7B50ECC}"/>
              </a:ext>
            </a:extLst>
          </p:cNvPr>
          <p:cNvSpPr/>
          <p:nvPr/>
        </p:nvSpPr>
        <p:spPr>
          <a:xfrm>
            <a:off x="698086" y="3928170"/>
            <a:ext cx="53023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Automated Alerts</a:t>
            </a:r>
            <a:endParaRPr lang="en-US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0E59F1E4-044D-377B-5973-29BF9092D240}"/>
              </a:ext>
            </a:extLst>
          </p:cNvPr>
          <p:cNvSpPr/>
          <p:nvPr/>
        </p:nvSpPr>
        <p:spPr>
          <a:xfrm>
            <a:off x="698086" y="4276427"/>
            <a:ext cx="5302316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Instant on-screen alerts triggered when latency or availability thresholds are breached.</a:t>
            </a:r>
            <a:endParaRPr lang="en-US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794E887C-A7C1-3CDF-1EF5-2A10A6739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1294" y="3388221"/>
            <a:ext cx="349043" cy="349052"/>
          </a:xfrm>
          <a:prstGeom prst="rect">
            <a:avLst/>
          </a:prstGeom>
        </p:spPr>
      </p:pic>
      <p:sp>
        <p:nvSpPr>
          <p:cNvPr id="29" name="Text 9">
            <a:extLst>
              <a:ext uri="{FF2B5EF4-FFF2-40B4-BE49-F238E27FC236}">
                <a16:creationId xmlns:a16="http://schemas.microsoft.com/office/drawing/2014/main" id="{68EF1CE1-A50C-8931-E848-FB75AD727799}"/>
              </a:ext>
            </a:extLst>
          </p:cNvPr>
          <p:cNvSpPr/>
          <p:nvPr/>
        </p:nvSpPr>
        <p:spPr>
          <a:xfrm>
            <a:off x="6191294" y="3928170"/>
            <a:ext cx="53023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Latency Measurement</a:t>
            </a:r>
            <a:endParaRPr lang="en-US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993C59E7-F762-9B4C-D7DF-5B782E3A2FDF}"/>
              </a:ext>
            </a:extLst>
          </p:cNvPr>
          <p:cNvSpPr/>
          <p:nvPr/>
        </p:nvSpPr>
        <p:spPr>
          <a:xfrm>
            <a:off x="6191294" y="4276427"/>
            <a:ext cx="5302316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Round-trip time measurement logged per host for performance trending.</a:t>
            </a:r>
            <a:endParaRPr lang="en-US" dirty="0"/>
          </a:p>
        </p:txBody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06D46A00-FB78-3761-5FF9-215F53995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5105301"/>
            <a:ext cx="349043" cy="349052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27F126D5-293E-A811-F4BD-E43C3B56670E}"/>
              </a:ext>
            </a:extLst>
          </p:cNvPr>
          <p:cNvSpPr/>
          <p:nvPr/>
        </p:nvSpPr>
        <p:spPr>
          <a:xfrm>
            <a:off x="698086" y="5645249"/>
            <a:ext cx="53023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CSV Report Export</a:t>
            </a:r>
            <a:endParaRPr lang="en-US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75E2EBB5-A421-1B03-6440-8B951A75A281}"/>
              </a:ext>
            </a:extLst>
          </p:cNvPr>
          <p:cNvSpPr/>
          <p:nvPr/>
        </p:nvSpPr>
        <p:spPr>
          <a:xfrm>
            <a:off x="698086" y="5993507"/>
            <a:ext cx="530231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Structured export of monitoring logs for offline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analysis and auditing.</a:t>
            </a:r>
            <a:endParaRPr lang="en-US" dirty="0"/>
          </a:p>
        </p:txBody>
      </p:sp>
      <p:pic>
        <p:nvPicPr>
          <p:cNvPr id="39" name="Image 5" descr="preencoded.png">
            <a:extLst>
              <a:ext uri="{FF2B5EF4-FFF2-40B4-BE49-F238E27FC236}">
                <a16:creationId xmlns:a16="http://schemas.microsoft.com/office/drawing/2014/main" id="{205AB451-F1C2-8DCF-EEAD-0BAB67562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1294" y="5105301"/>
            <a:ext cx="349043" cy="349052"/>
          </a:xfrm>
          <a:prstGeom prst="rect">
            <a:avLst/>
          </a:prstGeom>
        </p:spPr>
      </p:pic>
      <p:sp>
        <p:nvSpPr>
          <p:cNvPr id="41" name="Text 13">
            <a:extLst>
              <a:ext uri="{FF2B5EF4-FFF2-40B4-BE49-F238E27FC236}">
                <a16:creationId xmlns:a16="http://schemas.microsoft.com/office/drawing/2014/main" id="{90CA94B3-5E92-0348-E746-FC6955C758B0}"/>
              </a:ext>
            </a:extLst>
          </p:cNvPr>
          <p:cNvSpPr/>
          <p:nvPr/>
        </p:nvSpPr>
        <p:spPr>
          <a:xfrm>
            <a:off x="6191294" y="5645249"/>
            <a:ext cx="530231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Dashboard Visualization</a:t>
            </a:r>
            <a:endParaRPr lang="en-US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3AE354DD-ABAA-C6F0-D9D4-D560777B9A1E}"/>
              </a:ext>
            </a:extLst>
          </p:cNvPr>
          <p:cNvSpPr/>
          <p:nvPr/>
        </p:nvSpPr>
        <p:spPr>
          <a:xfrm>
            <a:off x="6191294" y="5993507"/>
            <a:ext cx="530231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Unified GUI with status indicators, alert history,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and host summaries.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1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FAA8C708-2D31-147A-3B4E-58390C0860AF}"/>
              </a:ext>
            </a:extLst>
          </p:cNvPr>
          <p:cNvSpPr/>
          <p:nvPr/>
        </p:nvSpPr>
        <p:spPr>
          <a:xfrm>
            <a:off x="698086" y="889298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Dashboard Walkthrough</a:t>
            </a:r>
            <a:endParaRPr lang="en-US" sz="36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9FDC3AB-BA85-C61C-B1E6-0DEE6E75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309217"/>
            <a:ext cx="5752758" cy="3259931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10BFCEFE-54DB-B220-2B24-BB3B42AF3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7750" y="1757164"/>
            <a:ext cx="2245066" cy="2234803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766FC9FF-24FA-836A-960B-22958A68693E}"/>
              </a:ext>
            </a:extLst>
          </p:cNvPr>
          <p:cNvSpPr/>
          <p:nvPr/>
        </p:nvSpPr>
        <p:spPr>
          <a:xfrm>
            <a:off x="7864080" y="1867694"/>
            <a:ext cx="25240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95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1AC5D11-4C9C-1216-417E-4873A4DE87AD}"/>
              </a:ext>
            </a:extLst>
          </p:cNvPr>
          <p:cNvSpPr/>
          <p:nvPr/>
        </p:nvSpPr>
        <p:spPr>
          <a:xfrm>
            <a:off x="7055070" y="2423120"/>
            <a:ext cx="1870425" cy="49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Dashboard Overview</a:t>
            </a:r>
            <a:endParaRPr lang="en-US" sz="15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5AC2CA0-6F6A-67B6-1FB9-5D6F4450E345}"/>
              </a:ext>
            </a:extLst>
          </p:cNvPr>
          <p:cNvSpPr/>
          <p:nvPr/>
        </p:nvSpPr>
        <p:spPr>
          <a:xfrm>
            <a:off x="7055070" y="3060204"/>
            <a:ext cx="1870425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Host list with live status icons, latency values, and port indicators.</a:t>
            </a:r>
            <a:endParaRPr lang="en-US" sz="13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74CFFAA-69A8-68A2-508D-D9DF59779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4794" y="1757164"/>
            <a:ext cx="2245066" cy="223480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91C175C2-3999-1468-9A4E-CBDCF9AC842C}"/>
              </a:ext>
            </a:extLst>
          </p:cNvPr>
          <p:cNvSpPr/>
          <p:nvPr/>
        </p:nvSpPr>
        <p:spPr>
          <a:xfrm>
            <a:off x="10251124" y="1867694"/>
            <a:ext cx="25240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95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8B39577-77B8-6767-D992-3B8E2DF9871A}"/>
              </a:ext>
            </a:extLst>
          </p:cNvPr>
          <p:cNvSpPr/>
          <p:nvPr/>
        </p:nvSpPr>
        <p:spPr>
          <a:xfrm>
            <a:off x="9442115" y="2423120"/>
            <a:ext cx="1870425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Alert Log Panel</a:t>
            </a:r>
            <a:endParaRPr lang="en-US" sz="155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9A71DDEE-8177-2487-0274-ACBA3B147447}"/>
              </a:ext>
            </a:extLst>
          </p:cNvPr>
          <p:cNvSpPr/>
          <p:nvPr/>
        </p:nvSpPr>
        <p:spPr>
          <a:xfrm>
            <a:off x="9442115" y="2812653"/>
            <a:ext cx="1870425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Timestamped alert history with severity levels and host details.</a:t>
            </a:r>
            <a:endParaRPr lang="en-US" sz="130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CEC03F72-D421-9C2C-6F63-786AB5A1E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750" y="4133949"/>
            <a:ext cx="2245066" cy="1987252"/>
          </a:xfrm>
          <a:prstGeom prst="rect">
            <a:avLst/>
          </a:prstGeom>
        </p:spPr>
      </p:pic>
      <p:sp>
        <p:nvSpPr>
          <p:cNvPr id="29" name="Text 9">
            <a:extLst>
              <a:ext uri="{FF2B5EF4-FFF2-40B4-BE49-F238E27FC236}">
                <a16:creationId xmlns:a16="http://schemas.microsoft.com/office/drawing/2014/main" id="{8E154B81-2121-13DC-30A1-A28BB103FEB3}"/>
              </a:ext>
            </a:extLst>
          </p:cNvPr>
          <p:cNvSpPr/>
          <p:nvPr/>
        </p:nvSpPr>
        <p:spPr>
          <a:xfrm>
            <a:off x="7864080" y="4244479"/>
            <a:ext cx="25240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95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DE15EB4A-530F-C10A-2D19-385CCF6F716E}"/>
              </a:ext>
            </a:extLst>
          </p:cNvPr>
          <p:cNvSpPr/>
          <p:nvPr/>
        </p:nvSpPr>
        <p:spPr>
          <a:xfrm>
            <a:off x="7055070" y="4799905"/>
            <a:ext cx="1870425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Monitoring Status</a:t>
            </a:r>
            <a:endParaRPr lang="en-US" sz="15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0F04C6FD-C958-9698-03FD-53D5DBE543D3}"/>
              </a:ext>
            </a:extLst>
          </p:cNvPr>
          <p:cNvSpPr/>
          <p:nvPr/>
        </p:nvSpPr>
        <p:spPr>
          <a:xfrm>
            <a:off x="7055070" y="5189438"/>
            <a:ext cx="1870425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Color-coded states: </a:t>
            </a:r>
            <a:r>
              <a:rPr lang="en-US" sz="130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Online</a:t>
            </a: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(green), </a:t>
            </a:r>
            <a:r>
              <a:rPr lang="en-US" sz="130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Warning</a:t>
            </a: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(yellow), </a:t>
            </a:r>
            <a:r>
              <a:rPr lang="en-US" sz="130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Down</a:t>
            </a: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(red).</a:t>
            </a:r>
            <a:endParaRPr lang="en-US" sz="1300" dirty="0"/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9514E235-CAF0-E26C-E1F5-997F69C922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4794" y="4133949"/>
            <a:ext cx="2245066" cy="1987252"/>
          </a:xfrm>
          <a:prstGeom prst="rect">
            <a:avLst/>
          </a:prstGeom>
        </p:spPr>
      </p:pic>
      <p:sp>
        <p:nvSpPr>
          <p:cNvPr id="37" name="Text 12">
            <a:extLst>
              <a:ext uri="{FF2B5EF4-FFF2-40B4-BE49-F238E27FC236}">
                <a16:creationId xmlns:a16="http://schemas.microsoft.com/office/drawing/2014/main" id="{80A80D41-438C-E6CE-E48F-1C55F725D571}"/>
              </a:ext>
            </a:extLst>
          </p:cNvPr>
          <p:cNvSpPr/>
          <p:nvPr/>
        </p:nvSpPr>
        <p:spPr>
          <a:xfrm>
            <a:off x="10251124" y="4244479"/>
            <a:ext cx="25240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95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73505A67-A64F-8580-5E7C-24117175BE63}"/>
              </a:ext>
            </a:extLst>
          </p:cNvPr>
          <p:cNvSpPr/>
          <p:nvPr/>
        </p:nvSpPr>
        <p:spPr>
          <a:xfrm>
            <a:off x="9442115" y="4799905"/>
            <a:ext cx="1870425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Info Page</a:t>
            </a:r>
            <a:endParaRPr lang="en-US" sz="155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955A3D5D-CFAE-74A2-0378-59143D0CE30C}"/>
              </a:ext>
            </a:extLst>
          </p:cNvPr>
          <p:cNvSpPr/>
          <p:nvPr/>
        </p:nvSpPr>
        <p:spPr>
          <a:xfrm>
            <a:off x="9442115" y="5189438"/>
            <a:ext cx="1870425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 details, course info, and system version displayed in-app.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199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2B90CCA7-23CE-5E7A-8D4F-CE58D691D84A}"/>
              </a:ext>
            </a:extLst>
          </p:cNvPr>
          <p:cNvSpPr/>
          <p:nvPr/>
        </p:nvSpPr>
        <p:spPr>
          <a:xfrm>
            <a:off x="698086" y="719931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16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Engineering Problem Analysis</a:t>
            </a:r>
            <a:endParaRPr lang="en-US" sz="360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70EF9C5E-A941-611D-2E7D-13450ADE1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97" y="1341446"/>
            <a:ext cx="8550006" cy="517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39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58B84A7C-1D96-E9CB-0FD8-19019B1707F5}"/>
              </a:ext>
            </a:extLst>
          </p:cNvPr>
          <p:cNvSpPr/>
          <p:nvPr/>
        </p:nvSpPr>
        <p:spPr>
          <a:xfrm>
            <a:off x="5269971" y="871934"/>
            <a:ext cx="6223638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Achievements</a:t>
            </a:r>
            <a:endParaRPr lang="en-US" sz="36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C56A6D8-508E-3DF8-24DE-6551AC490C16}"/>
              </a:ext>
            </a:extLst>
          </p:cNvPr>
          <p:cNvSpPr/>
          <p:nvPr/>
        </p:nvSpPr>
        <p:spPr>
          <a:xfrm>
            <a:off x="5269971" y="1580059"/>
            <a:ext cx="6223638" cy="3394277"/>
          </a:xfrm>
          <a:prstGeom prst="roundRect">
            <a:avLst>
              <a:gd name="adj" fmla="val 385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47F3806-01B9-29AF-E774-330E3A1FBC32}"/>
              </a:ext>
            </a:extLst>
          </p:cNvPr>
          <p:cNvSpPr/>
          <p:nvPr/>
        </p:nvSpPr>
        <p:spPr>
          <a:xfrm>
            <a:off x="5444592" y="1754684"/>
            <a:ext cx="5874397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-27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✅</a:t>
            </a:r>
            <a:r>
              <a:rPr lang="en-US" sz="20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Delivered</a:t>
            </a:r>
            <a:endParaRPr lang="en-US" sz="2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EF23280-1C25-E2C9-91A9-A00107EC95B0}"/>
              </a:ext>
            </a:extLst>
          </p:cNvPr>
          <p:cNvSpPr/>
          <p:nvPr/>
        </p:nvSpPr>
        <p:spPr>
          <a:xfrm>
            <a:off x="5444592" y="2100064"/>
            <a:ext cx="5874397" cy="2654816"/>
          </a:xfrm>
          <a:prstGeom prst="rect">
            <a:avLst/>
          </a:prstGeom>
          <a:noFill/>
          <a:ln/>
        </p:spPr>
        <p:txBody>
          <a:bodyPr wrap="square" lIns="0" tIns="67324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Fully functional GUI-based monitoring system</a:t>
            </a:r>
            <a:endParaRPr lang="en-US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TCP port and latency checks</a:t>
            </a:r>
            <a:endParaRPr lang="en-US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Automated alert engine with threshold logic</a:t>
            </a:r>
            <a:endParaRPr lang="en-US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CSV report export and alert logging</a:t>
            </a:r>
            <a:endParaRPr lang="en-US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2A366FEA-7250-8C95-BCEA-91CE38C83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4589"/>
            <a:ext cx="4924926" cy="708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3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081A2E-2064-7E0D-F1F3-4A4E2546C000}"/>
              </a:ext>
            </a:extLst>
          </p:cNvPr>
          <p:cNvSpPr txBox="1"/>
          <p:nvPr/>
        </p:nvSpPr>
        <p:spPr>
          <a:xfrm>
            <a:off x="5685224" y="7454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117E7805-76CF-9C5B-6C71-229D4278A450}"/>
              </a:ext>
            </a:extLst>
          </p:cNvPr>
          <p:cNvSpPr/>
          <p:nvPr/>
        </p:nvSpPr>
        <p:spPr>
          <a:xfrm>
            <a:off x="5101388" y="1505686"/>
            <a:ext cx="7090611" cy="3132190"/>
          </a:xfrm>
          <a:prstGeom prst="roundRect">
            <a:avLst>
              <a:gd name="adj" fmla="val 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2E6AF16-5761-8080-99C5-5851FF46BDAE}"/>
              </a:ext>
            </a:extLst>
          </p:cNvPr>
          <p:cNvSpPr/>
          <p:nvPr/>
        </p:nvSpPr>
        <p:spPr>
          <a:xfrm>
            <a:off x="5685224" y="1744529"/>
            <a:ext cx="5874397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kern="0" spc="-27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🔮</a:t>
            </a:r>
            <a:r>
              <a:rPr lang="en-US" sz="28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Future Enhancements</a:t>
            </a:r>
            <a:endParaRPr lang="en-US" sz="28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84CA353-C8EB-7EDD-ACC8-57963F0158E2}"/>
              </a:ext>
            </a:extLst>
          </p:cNvPr>
          <p:cNvSpPr/>
          <p:nvPr/>
        </p:nvSpPr>
        <p:spPr>
          <a:xfrm>
            <a:off x="5685224" y="2523744"/>
            <a:ext cx="5874397" cy="1965128"/>
          </a:xfrm>
          <a:prstGeom prst="rect">
            <a:avLst/>
          </a:prstGeom>
          <a:noFill/>
          <a:ln/>
        </p:spPr>
        <p:txBody>
          <a:bodyPr wrap="square" lIns="0" tIns="67324" rIns="0" bIns="0" rtlCol="0" anchor="t">
            <a:no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20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AI-based anomaly detection using ML models</a:t>
            </a:r>
            <a:endParaRPr lang="en-US" sz="20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20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Email and SMS alert integration</a:t>
            </a:r>
            <a:endParaRPr lang="en-US" sz="20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20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Cloud-based distributed monitoring</a:t>
            </a:r>
            <a:endParaRPr lang="en-US" sz="20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20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Historical trend analysis and visualization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19364A-9AF3-F9A0-6501-A9A89FED0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5101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68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DABFAF-A6A5-BD28-CDE4-0D765FD07CC1}"/>
              </a:ext>
            </a:extLst>
          </p:cNvPr>
          <p:cNvSpPr/>
          <p:nvPr/>
        </p:nvSpPr>
        <p:spPr>
          <a:xfrm>
            <a:off x="5968362" y="-1403434"/>
            <a:ext cx="6223638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endParaRPr lang="en-US" sz="5100" dirty="0"/>
          </a:p>
        </p:txBody>
      </p:sp>
      <p:pic>
        <p:nvPicPr>
          <p:cNvPr id="6" name="Picture 5" descr="Empty speech bubbles">
            <a:extLst>
              <a:ext uri="{FF2B5EF4-FFF2-40B4-BE49-F238E27FC236}">
                <a16:creationId xmlns:a16="http://schemas.microsoft.com/office/drawing/2014/main" id="{AD4E3F9A-C010-29A8-437F-16071D9E9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052DE2-F71D-81C8-A822-E9AB2A49EACE}"/>
              </a:ext>
            </a:extLst>
          </p:cNvPr>
          <p:cNvSpPr txBox="1"/>
          <p:nvPr/>
        </p:nvSpPr>
        <p:spPr>
          <a:xfrm>
            <a:off x="721895" y="5085347"/>
            <a:ext cx="7138736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60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69842874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22</TotalTime>
  <Words>344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Funnel Display</vt:lpstr>
      <vt:lpstr>Funnel Sans</vt:lpstr>
      <vt:lpstr>Funnel Sans Bold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Tirtha Sarkar</dc:creator>
  <cp:lastModifiedBy>Tirtha Sarkar</cp:lastModifiedBy>
  <cp:revision>1</cp:revision>
  <dcterms:created xsi:type="dcterms:W3CDTF">2026-08-29T17:04:02Z</dcterms:created>
  <dcterms:modified xsi:type="dcterms:W3CDTF">2026-08-29T17:26:03Z</dcterms:modified>
</cp:coreProperties>
</file>